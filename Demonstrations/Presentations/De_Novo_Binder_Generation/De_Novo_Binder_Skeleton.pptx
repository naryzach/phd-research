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theme: seriph</a:t>
            </a:r>
          </a:p>
          <a:p>
            <a:pPr/>
            <a:r>
              <a:t>background: '#0f172a'</a:t>
            </a:r>
          </a:p>
          <a:p>
            <a:pPr/>
            <a:r>
              <a:t>title: "De Novo Binder Generation"</a:t>
            </a:r>
          </a:p>
          <a:p>
            <a:pPr/>
            <a:r>
              <a:t>info: |</a:t>
            </a:r>
          </a:p>
          <a:p>
            <a:pPr/>
            <a:r>
              <a:t>## De Novo Protein Prediction to Binding Evaluation</a:t>
            </a:r>
          </a:p>
          <a:p>
            <a:pPr/>
            <a:r>
              <a:t>Engineering MMP9-selective TIMP3 loop variants via generative deep learning.</a:t>
            </a:r>
          </a:p>
          <a:p>
            <a:pPr/>
            <a:r>
              <a:t>Author: Ryan Gustafson | University of Nevada, Reno</a:t>
            </a:r>
          </a:p>
          <a:p>
            <a:pPr/>
            <a:r>
              <a:t>class: text-center</a:t>
            </a:r>
          </a:p>
          <a:p>
            <a:pPr/>
            <a:r>
              <a:t>drawings:</a:t>
            </a:r>
          </a:p>
          <a:p>
            <a:pPr/>
            <a:r>
              <a:t>persist: false</a:t>
            </a:r>
          </a:p>
          <a:p>
            <a:pPr/>
            <a:r>
              <a:t>transition: slide-left</a:t>
            </a:r>
          </a:p>
          <a:p>
            <a:pPr/>
            <a:r>
              <a:t>mdc: true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 Novo Binder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2400"/>
            </a:pPr>
            <a:r>
              <a:t>RFdiffusion → ProteinMPNN → AlphaFold3 → Yeast Display</a:t>
            </a:r>
          </a:p>
          <a:p>
            <a:pPr/>
            <a:r>
              <a:t>Validated Results</a:t>
            </a:r>
          </a:p>
          <a:p>
            <a:pPr/>
            <a:r>
              <a:t>3/4 Predicted Selective Confirmed</a:t>
            </a:r>
          </a:p>
          <a:p>
            <a:pPr/>
            <a:r>
              <a:t>Primary Targets</a:t>
            </a:r>
          </a:p>
          <a:p>
            <a:pPr/>
            <a:r>
              <a:t>MMP9 vs MMP2</a:t>
            </a:r>
          </a:p>
          <a:p>
            <a:pPr/>
            <a:r>
              <a:t>PPV</a:t>
            </a:r>
          </a:p>
          <a:p>
            <a:pPr/>
            <a:r>
              <a:t>75%</a:t>
            </a:r>
          </a:p>
          <a:p>
            <a:pPr/>
            <a:r>
              <a:t>h1 {</a:t>
            </a:r>
          </a:p>
          <a:p>
            <a:pPr/>
            <a:r>
              <a:t>background: linear-gradient(135deg, #58a6ff 0%, #00f2fe 100%);</a:t>
            </a:r>
          </a:p>
          <a:p>
            <a:pPr/>
            <a:r>
              <a:t>-webkit-background-clip: text;</a:t>
            </a:r>
          </a:p>
          <a:p>
            <a:pPr/>
            <a:r>
              <a:t>-webkit-text-fill-color: transparent;</a:t>
            </a:r>
          </a:p>
          <a:p>
            <a:pPr/>
            <a:r>
              <a:t>font-weight: 800;</a:t>
            </a:r>
          </a:p>
          <a:p>
            <a:pPr/>
            <a:r>
              <a:t>letter-spacing: -0.02em;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Near-Identical Active Sites, Opposite Clinical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MMP9 — Pathogenic</a:t>
            </a:r>
          </a:p>
          <a:p>
            <a:pPr/>
            <a:r>
              <a:t>→ Basement membrane degradation → tumor intravasation</a:t>
            </a:r>
          </a:p>
          <a:p>
            <a:pPr/>
            <a:r>
              <a:t>→ Releases ECM-sequestered VEGF → angiogenesis</a:t>
            </a:r>
          </a:p>
          <a:p>
            <a:pPr/>
            <a:r>
              <a:t>→ Overexpressed in &gt;15 solid tumor types</a:t>
            </a:r>
          </a:p>
          <a:p>
            <a:pPr/>
            <a:r>
              <a:t>→ Correlates with metastasis and poor prognosis</a:t>
            </a:r>
          </a:p>
          <a:p>
            <a:pPr/>
            <a:r>
              <a:t>MMP2 — Homeostatic</a:t>
            </a:r>
          </a:p>
          <a:p>
            <a:pPr/>
            <a:r>
              <a:t>→ Normal connective tissue maintenance</a:t>
            </a:r>
          </a:p>
          <a:p>
            <a:pPr/>
            <a:r>
              <a:t>→ Vascular remodeling in healthy tissue</a:t>
            </a:r>
          </a:p>
          <a:p>
            <a:pPr/>
            <a:r>
              <a:t>→ Inhibition → musculoskeletal toxicity</a:t>
            </a:r>
          </a:p>
          <a:p>
            <a:pPr/>
            <a:r>
              <a:t>→ 65% catalytic domain identity with MMP9</a:t>
            </a:r>
          </a:p>
          <a:p>
            <a:pPr/>
            <a:r>
              <a:t>Why TIMP3?</a:t>
            </a:r>
          </a:p>
          <a:p>
            <a:pPr/>
            <a:r>
              <a:t>TIMP3 naturally inhibits metalloproteinases via three N-terminal reactive loops (AB, C, EF).</a:t>
            </a:r>
          </a:p>
          <a:p>
            <a:pPr/>
            <a:r>
              <a:t>Its β-barrel scaffold tolerates loop insertions of 6–15 aa while retaining fold stability —</a:t>
            </a:r>
          </a:p>
          <a:p>
            <a:pPr/>
            <a:r>
              <a:t>making it ideal for loop-level precision engineering.</a:t>
            </a:r>
          </a:p>
          <a:p>
            <a:pPr/>
            <a:r>
              <a:t>Our Approach</a:t>
            </a:r>
          </a:p>
          <a:p>
            <a:pPr/>
            <a:r>
              <a:t>Generative AI de novo redesigns the AB and C loops to amplify MMP9 preference over MMP2.</a:t>
            </a:r>
          </a:p>
          <a:p>
            <a:pPr/>
            <a:r>
              <a:t>Computationally selected from &gt;1,000 candidates, then experimentally validated via</a:t>
            </a:r>
          </a:p>
          <a:p>
            <a:pPr/>
            <a:r>
              <a:t>yeast surface display and flow cytometry.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TIMP3 Scaffold — Engineerable Loop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Hover over each loop to see its position, native length, and expansion range.</a:t>
            </a:r>
          </a:p>
          <a:p>
            <a:pPr/>
            <a:r>
              <a:t>AB Loop (res 31–36)</a:t>
            </a:r>
          </a:p>
          <a:p>
            <a:pPr/>
            <a:r>
              <a:t>Primary MMP active-site contact. AB 6 (13 aa insertion) achieved strongest selectivity signal, p = 0.0002.</a:t>
            </a:r>
          </a:p>
          <a:p>
            <a:pPr/>
            <a:r>
              <a:t>C Loop (res 63–68)</a:t>
            </a:r>
          </a:p>
          <a:p>
            <a:pPr/>
            <a:r>
              <a:t>Second primary contact loop. C 12 and C 15 both confirmed MMP9-selective. Up to 13 aa insertions tolerated.</a:t>
            </a:r>
          </a:p>
          <a:p>
            <a:pPr/>
            <a:r>
              <a:t>EF Loop (res 93–96)</a:t>
            </a:r>
          </a:p>
          <a:p>
            <a:pPr/>
            <a:r>
              <a:t>Secondary contact loop. 4 residues native. EF variants generated but selection concentrated on AB and C in this cycle.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Six stages from backbone hallucination to experimentally validated selectivity.</a:t>
            </a:r>
          </a:p>
          <a:p>
            <a:pPr/>
            <a:r>
              <a:t>①</a:t>
            </a:r>
          </a:p>
          <a:p>
            <a:pPr/>
            <a:r>
              <a:t>RFdiffusion</a:t>
            </a:r>
          </a:p>
          <a:p>
            <a:pPr/>
            <a:r>
              <a:t>Loop backbone hallucinationAB / C / EF loops6–24 aa expansionsA30 GPU, ~20 hr/run</a:t>
            </a:r>
          </a:p>
          <a:p>
            <a:pPr/>
            <a:r>
              <a:t>→</a:t>
            </a:r>
          </a:p>
          <a:p>
            <a:pPr/>
            <a:r>
              <a:t>②</a:t>
            </a:r>
          </a:p>
          <a:p>
            <a:pPr/>
            <a:r>
              <a:t>ProteinMPNN</a:t>
            </a:r>
          </a:p>
          <a:p>
            <a:pPr/>
            <a:r>
              <a:t>1000 seqs/targetT=0.2, fixed scaffoldTop 10 per loopby log-likelihood</a:t>
            </a:r>
          </a:p>
          <a:p>
            <a:pPr/>
            <a:r>
              <a:t>→</a:t>
            </a:r>
          </a:p>
          <a:p>
            <a:pPr/>
            <a:r>
              <a:t>③</a:t>
            </a:r>
          </a:p>
          <a:p>
            <a:pPr/>
            <a:r>
              <a:t>AlphaFold3</a:t>
            </a:r>
          </a:p>
          <a:p>
            <a:pPr/>
            <a:r>
              <a:t>Batch co-folding5 targetsipTM / PAE / pLDDTloop &amp; interface</a:t>
            </a:r>
          </a:p>
          <a:p>
            <a:pPr/>
            <a:r>
              <a:t>→</a:t>
            </a:r>
          </a:p>
          <a:p>
            <a:pPr/>
            <a:r>
              <a:t>④</a:t>
            </a:r>
          </a:p>
          <a:p>
            <a:pPr/>
            <a:r>
              <a:t>T-Score Filter</a:t>
            </a:r>
          </a:p>
          <a:p>
            <a:pPr/>
            <a:r>
              <a:t>T &gt; 2.0, ≥2 metricsipTM ≥ 0.8213 of &gt;1000 pass&gt;98% reduction</a:t>
            </a:r>
          </a:p>
          <a:p>
            <a:pPr/>
            <a:r>
              <a:t>→</a:t>
            </a:r>
          </a:p>
          <a:p>
            <a:pPr/>
            <a:r>
              <a:t>⑤</a:t>
            </a:r>
          </a:p>
          <a:p>
            <a:pPr/>
            <a:r>
              <a:t>DNA Synthesis</a:t>
            </a:r>
          </a:p>
          <a:p>
            <a:pPr/>
            <a:r>
              <a:t>RE site screeningBsrGI, BamHI, BsaI13/13 passedTwist, Dec 2025</a:t>
            </a:r>
          </a:p>
          <a:p>
            <a:pPr/>
            <a:r>
              <a:t>→</a:t>
            </a:r>
          </a:p>
          <a:p>
            <a:pPr/>
            <a:r>
              <a:t>⑥</a:t>
            </a:r>
          </a:p>
          <a:p>
            <a:pPr/>
            <a:r>
              <a:t>Yeast Display</a:t>
            </a:r>
          </a:p>
          <a:p>
            <a:pPr/>
            <a:r>
              <a:t>FITC = expressionAPC = bindingBind Med (Expr+)ANOVA + Tukey-HSD</a:t>
            </a:r>
          </a:p>
          <a:p>
            <a:pPr/>
            <a:r>
              <a:t>Scaffold constraint: TIMP3 residues outside the three engineered loops are held fixed throughout stages ①–③. Only loop positions are hallucinated (①) or designed (②), ensuring the validated scaffold fold is preserved.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Phase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Computational filtering (stages ①–④) vs experimental validation (stages ⑤–⑥).</a:t>
            </a:r>
          </a:p>
          <a:p>
            <a:pPr/>
            <a:r>
              <a:t>Computational Phase</a:t>
            </a:r>
          </a:p>
          <a:p>
            <a:pPr/>
            <a:r>
              <a:t>HADDOCK templates: Each target provides a docked starting structure. Scaffold residues are frozen in all subsequent stages — only loop backbone (①) and sequence (②) vary.</a:t>
            </a:r>
          </a:p>
          <a:p>
            <a:pPr/>
            <a:r>
              <a:t>T-score normalization: Each variant is scored relative to its own mean across all targets — not the population. A mediocre global binder with one uniquely-high target score earns a high T. This explicitly selects preferential binders, not globally strong ones.</a:t>
            </a:r>
          </a:p>
          <a:p>
            <a:pPr/>
            <a:r>
              <a:t>Multi-metric consensus: T &gt; 2.0 required on ≥2 independent AF3 metrics (ipTM, loop pLDDT, interface PAE). Prevents noise-driven false positives from a single metric.</a:t>
            </a:r>
          </a:p>
          <a:p>
            <a:pPr/>
            <a:r>
              <a:t>Reduction: &gt;1,000 designed sequences → 13 synthesis candidates (&gt;98% reduction).</a:t>
            </a:r>
          </a:p>
          <a:p>
            <a:pPr/>
            <a:r>
              <a:t>Experimental Phase</a:t>
            </a:r>
          </a:p>
          <a:p>
            <a:pPr/>
            <a:r>
              <a:t>Yeast surface display: Golden Gate cloning into pCT302; EBY100 yeast transformation. Surface expression detected by FITC-conjugated anti-Myc antibody. His-tagged target detected by APC-conjugated anti-His.</a:t>
            </a:r>
          </a:p>
          <a:p>
            <a:pPr/>
            <a:r>
              <a:t>Gating: Pentagon FSC/SSC singlet gate learned from NC via KDE. Quadrant thresholds at 99.5th percentile NC per channel — &amp;lt;0.5% NC events above threshold in either channel.</a:t>
            </a:r>
          </a:p>
          <a:p>
            <a:pPr/>
            <a:r>
              <a:t>Primary metric: Bind Med (Expr+) — raw APC-A median for FITC+ cells. Cross-target comparable because MMP9 and MMP2 values share the same fluorescence scale.</a:t>
            </a:r>
          </a:p>
          <a:p>
            <a:pPr/>
            <a:r>
              <a:t>Statistics: One-way ANOVA per construct across targets; Tukey-HSD post-hoc for pairwise target comparisons.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section</a:t>
            </a:r>
          </a:p>
          <a:p>
            <a:pPr/>
            <a:r>
              <a:t>transition: slide-up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2400"/>
            </a:pPr>
            <a:r>
              <a:t>Computational Candidate Generation and Selection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AlphaFold Confidence Metrics — What We Extract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Five independent structural confidence signals per co-folded complex.</a:t>
            </a:r>
          </a:p>
          <a:p>
            <a:pPr/>
            <a:r>
              <a:t>pTM</a:t>
            </a:r>
          </a:p>
          <a:p>
            <a:pPr/>
            <a:r>
              <a:t>Global complex TM-score. Hard threshold ≥ 0.80. Confirms overall fold integrity of the TIMP3–target complex.</a:t>
            </a:r>
          </a:p>
          <a:p>
            <a:pPr/>
            <a:r>
              <a:t>ipTM</a:t>
            </a:r>
          </a:p>
          <a:p>
            <a:pPr/>
            <a:r>
              <a:t>Interface TM-score. Hard threshold ≥ 0.82. Most sensitive to loop-mediated binding geometry. Primary selection gatekeeper.</a:t>
            </a:r>
          </a:p>
          <a:p>
            <a:pPr/>
            <a:r>
              <a:t>Mean pLDDT</a:t>
            </a:r>
          </a:p>
          <a:p>
            <a:pPr/>
            <a:r>
              <a:t>Per-residue confidence, all residues. ≥70 = confident global fold. Dominated by scaffold; less discriminating for loop design.</a:t>
            </a:r>
          </a:p>
          <a:p>
            <a:pPr/>
            <a:r>
              <a:t>Loop pLDDT</a:t>
            </a:r>
          </a:p>
          <a:p>
            <a:pPr/>
            <a:r>
              <a:t>pLDDT restricted to engineered loop residues only. More discriminating than mean pLDDT — directly reflects predicted loop structure confidence.</a:t>
            </a:r>
          </a:p>
          <a:p>
            <a:pPr/>
            <a:r>
              <a:t>PAE (iface)</a:t>
            </a:r>
          </a:p>
          <a:p>
            <a:pPr/>
            <a:r>
              <a:t>Expected position error of loop residues relative to the target. Lower = more precise predicted binding geometry. Units: Å.</a:t>
            </a:r>
          </a:p>
          <a:p>
            <a:pPr/>
            <a:r>
              <a:t>Why five metrics? Each captures a different aspect of the predicted interface: global fold (pTM), interface quality (ipTM), whole-structure confidence (mean pLDDT), loop-specific confidence (loop pLDDT), geometric precision (PAE). A binder that scores high on all five is more likely to be a true positive than one that excels on only one.</a:t>
            </a:r>
          </a:p>
          <a:p>
            <a:pPr/>
            <a:r>
              <a:t>Selection logic: Hard thresholds (ipTM ≥ 0.82, pTM ≥ 0.80) are applied first as gates. Remaining candidates are ranked by T-score — a self-normalized metric that compares each variant against its own cross-target distribution, not the population. See next slide for T-score details.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T-Score: Selecting for Preference, Not Just Strength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Self-normalized — each variant is its own control across all targets.</a:t>
            </a:r>
          </a:p>
          <a:p>
            <a:pPr/>
            <a:r>
              <a:t>T &gt; 2.0</a:t>
            </a:r>
          </a:p>
          <a:p>
            <a:pPr/>
            <a:r>
              <a:t>97.5th %ile</a:t>
            </a:r>
          </a:p>
          <a:p>
            <a:pPr/>
            <a:r>
              <a:t>Required on ≥2 metrics</a:t>
            </a:r>
          </a:p>
          <a:p>
            <a:pPr/>
            <a:r>
              <a:t>ipTM ≥ 0.82</a:t>
            </a:r>
          </a:p>
          <a:p>
            <a:pPr/>
            <a:r>
              <a:t>Interface floor</a:t>
            </a:r>
          </a:p>
          <a:p>
            <a:pPr/>
            <a:r>
              <a:t>Hard gate applied first</a:t>
            </a:r>
          </a:p>
          <a:p>
            <a:pPr/>
            <a:r>
              <a:t>13 / &gt;1000</a:t>
            </a:r>
          </a:p>
          <a:p>
            <a:pPr/>
            <a:r>
              <a:t>Pass filter</a:t>
            </a:r>
          </a:p>
          <a:p>
            <a:pPr/>
            <a:r>
              <a:t>&gt;98% candidate reduction</a:t>
            </a:r>
          </a:p>
          <a:p>
            <a:pPr/>
            <a:r>
              <a:t>T-score vs Z-score: Z-score identifies variants that bind better than the population — a globally excellent binder earns a high Z regardless of selectivity.</a:t>
            </a:r>
          </a:p>
          <a:p>
            <a:pPr/>
            <a:r>
              <a:t>T-score identifies variants that bind this target better than their own cross-target average.</a:t>
            </a:r>
          </a:p>
          <a:p>
            <a:pPr/>
            <a:r>
              <a:t>A mediocre global binder with one uniquely high score earns a high T — exactly the selectivity-optimizing behavior we want.</a:t>
            </a:r>
          </a:p>
          <a:p>
            <a:pPr/>
            <a:r>
              <a:t>Multi-metric consensus: T &gt; 2.0 required on ≥2 independent metrics (ipTM, loop pLDDT, interface PAE). Agreement across orthogonal signals prevents noise-driven false positives from any single metric.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T-Score Results — Statistical Significance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Filter by loop type; scroll for all variants. Green = T &gt; 2.0 (significant win on that target).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Ordered Library — 13 Constructs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All constructs passed RE site screening (BsrGI, BamHI, BsaI).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Library — Loop Group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AB-Loop Variants (7)</a:t>
            </a:r>
          </a:p>
          <a:p>
            <a:pPr/>
            <a:r>
              <a:t>Native residues 31–36; extensions 6–15 aa. Targeted at MMP9 active site</a:t>
            </a:r>
          </a:p>
          <a:p>
            <a:pPr/>
            <a:r>
              <a:t>via HADDOCK geometry. AB 6 showed the strongest statistical signal (p = 0.0002).</a:t>
            </a:r>
          </a:p>
          <a:p>
            <a:pPr/>
            <a:r>
              <a:t>AB 1 was predicted selective — directionally correct but ANOVA non-significant due to high trial-to-trial variance.</a:t>
            </a:r>
          </a:p>
          <a:p>
            <a:pPr/>
            <a:r>
              <a:t>C-Loop Variants (5)</a:t>
            </a:r>
          </a:p>
          <a:p>
            <a:pPr/>
            <a:r>
              <a:t>Native residues 63–68. C 12 (loop: ASGPITVNGETIW) and C 15 both confirmed</a:t>
            </a:r>
          </a:p>
          <a:p>
            <a:pPr/>
            <a:r>
              <a:t>MMP9-selective at p &amp;lt; 0.02. Up to 13 aa insertions tolerated without</a:t>
            </a:r>
          </a:p>
          <a:p>
            <a:pPr/>
            <a:r>
              <a:t>loss of yeast surface display function.</a:t>
            </a:r>
          </a:p>
          <a:p>
            <a:pPr/>
            <a:r>
              <a:t>ADAM17-Targeted (4)</a:t>
            </a:r>
          </a:p>
          <a:p>
            <a:pPr/>
            <a:r>
              <a:t>AB 4, AB 7, C 11, C 14 designed for ADAM17. ADAM10 comparison pending</a:t>
            </a:r>
          </a:p>
          <a:p>
            <a:pPr/>
            <a:r>
              <a:t>positive control optimization. Included in within-target analysis only.</a:t>
            </a:r>
          </a:p>
          <a:p>
            <a:pPr/>
            <a:r>
              <a:t>Extend the pipeline to inflammatory signaling vs Alzheimer's disease target pair.</a:t>
            </a:r>
          </a:p>
          <a:p>
            <a:pPr/>
            <a:r>
              <a:t>Library design rationale: MMP9-targeted constructs span both primary contact loops (AB and C) to probe whether selectivity is loop-position–specific or generalizable across the TIMP3 interface. The ADAM17 group tests pipeline generalizability beyond the MMP scaffold in the same experimental cycle.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section</a:t>
            </a:r>
          </a:p>
          <a:p>
            <a:pPr/>
            <a:r>
              <a:t>transition: slide-up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2400"/>
            </a:pPr>
            <a:r>
              <a:t>Experimental Validation — Flow Cytometry Metrics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Pentagon scatter gate + 99.5th percentile NC quadrant thresholds.</a:t>
            </a:r>
          </a:p>
          <a:p>
            <a:pPr/>
            <a:r>
              <a:t>Step 1 — Pentagon Scatter Gate</a:t>
            </a:r>
          </a:p>
          <a:p>
            <a:pPr/>
            <a:r>
              <a:t>KDE on FSC-A vs SSC-A from negative control. Binary search for 90% core-event inclusion.</a:t>
            </a:r>
          </a:p>
          <a:p>
            <a:pPr/>
            <a:r>
              <a:t>Convex hull simplified to 5 vertices (Visvalingam-Whyatt). Applied identically to all</a:t>
            </a:r>
          </a:p>
          <a:p>
            <a:pPr/>
            <a:r>
              <a:t>samples in the trial — ensures no sample-specific selection bias.</a:t>
            </a:r>
          </a:p>
          <a:p>
            <a:pPr/>
            <a:r>
              <a:t>Step 2 — Dynamic Quadrant Gate</a:t>
            </a:r>
          </a:p>
          <a:p>
            <a:pPr/>
            <a:r>
              <a:t>Expression threshold (θexpr): 99.5th percentile of FITC-A in NC.</a:t>
            </a:r>
          </a:p>
          <a:p>
            <a:pPr/>
            <a:r>
              <a:t>Binding threshold (θbind): 99.5th percentile of APC-A in NC.</a:t>
            </a:r>
          </a:p>
          <a:p>
            <a:pPr/>
            <a:r>
              <a:t>&amp;lt;0.5% NC events above threshold per channel. Q2 (upper-right) = double positive (DP) — expressing and binding.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Cytometry Metrics — Hover for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Six quantitative metrics extracted per sample. Hover any card for full definition, scope, and use.</a:t>
            </a:r>
          </a:p>
          <a:p>
            <a:pPr/>
            <a:r>
              <a:t>Cross-target: Bind Med (Expr+), Binding Efficiency</a:t>
            </a:r>
          </a:p>
          <a:p>
            <a:pPr/>
            <a:r>
              <a:t>Within-target: Norm Bind Med, Norm Median Ratio, Norm IWB</a:t>
            </a:r>
          </a:p>
          <a:p>
            <a:pPr/>
            <a:r>
              <a:t>QC only: Stain Index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Metric: Positive Median Ratio (APC/FITC)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APC/FITC median ratio in expressing cells — cross-target comparable, expression-corrected.</a:t>
            </a:r>
          </a:p>
          <a:p>
            <a:pPr/>
            <a:r>
              <a:t>Definition</a:t>
            </a:r>
          </a:p>
          <a:p>
            <a:pPr/>
            <a:r>
              <a:t>Pos Med Ratio =</a:t>
            </a:r>
          </a:p>
          <a:p>
            <a:pPr/>
            <a:r>
              <a:t>&amp;nbsp;&amp;nbsp;median(APC-A) / median(FITC-A)&amp;nbsp;&amp;nbsp;[FITC+ gate]</a:t>
            </a:r>
          </a:p>
          <a:p>
            <a:pPr/>
            <a:r>
              <a:t>Norm Median Ratio =</a:t>
            </a:r>
          </a:p>
          <a:p>
            <a:pPr/>
            <a:r>
              <a:t>&amp;nbsp;&amp;nbsp;Pos Med Ratio(sample) / Pos Med Ratio(TIMP3-WT)</a:t>
            </a:r>
          </a:p>
          <a:p>
            <a:pPr/>
            <a:r>
              <a:t>Restricted to FITC+ cells. Dividing APC by FITC corrects for surface-display</a:t>
            </a:r>
          </a:p>
          <a:p>
            <a:pPr/>
            <a:r>
              <a:t>variation between individual cells. Cross-target comparable: MMP9 and MMP2 share</a:t>
            </a:r>
          </a:p>
          <a:p>
            <a:pPr/>
            <a:r>
              <a:t>the same FITC detection antibody so the denominator is equivalent across targets.</a:t>
            </a:r>
          </a:p>
          <a:p>
            <a:pPr/>
            <a:r>
              <a:t>Error bars = 95% CI (t-distribution). Failed trials excluded.</a:t>
            </a:r>
          </a:p>
          <a:p>
            <a:pPr/>
            <a:r>
              <a:t>vs Binding Efficiency:</a:t>
            </a:r>
          </a:p>
          <a:p>
            <a:pPr/>
            <a:r>
              <a:t>Efficiency = fraction of expressors that cross the APC threshold.</a:t>
            </a:r>
          </a:p>
          <a:p>
            <a:pPr/>
            <a:r>
              <a:t>Pos Med Ratio = continuous intensity of binding per unit expression.</a:t>
            </a:r>
          </a:p>
          <a:p>
            <a:pPr/>
            <a:r>
              <a:t>Pos Med Ratio uses all FITC+ cells; Efficiency uses a binary gate. Both are cross-target comparable.</a:t>
            </a:r>
          </a:p>
          <a:p>
            <a:pPr/>
            <a:r>
              <a:t>Pos Med Ratio per construct — MMP9 (green) vs MMP2 (red), APC/FITC.</a:t>
            </a:r>
          </a:p>
          <a:p>
            <a:pPr/>
            <a:r>
              <a:t>Dashed lines = TIMP3-WT ratio per target. Error bars = 95% CI. Significance by Tukey-HSD.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Within-Target Ranking: Norm Bind Med (Expr+)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How do variants compare to TIMP3-WT on the same target?</a:t>
            </a:r>
          </a:p>
          <a:p>
            <a:pPr/>
            <a:r>
              <a:t>Each target normalized independently to TIMP3-WT (= 1.0).</a:t>
            </a:r>
          </a:p>
          <a:p>
            <a:pPr/>
            <a:r>
              <a:t>Do not compare MMP9 values to MMP2 values across rows.</a:t>
            </a:r>
          </a:p>
          <a:p>
            <a:pPr/>
            <a:r>
              <a:t>Why normalize within-target: Raw MMP9 and MMP2 baselines differ due to protein concentration, staining efficiency, and TIMP3 affinity per target. Dividing by TIMP3-WT for each target independently isolates construct-level effects from between-target scale differences.</a:t>
            </a:r>
          </a:p>
          <a:p>
            <a:pPr/>
            <a:r>
              <a:t>Key constructs vs TIMP3-WT (Norm Bind Med):</a:t>
            </a:r>
          </a:p>
          <a:p>
            <a:pPr/>
            <a:r>
              <a:t>Construct</a:t>
            </a:r>
          </a:p>
          <a:p>
            <a:pPr/>
            <a:r>
              <a:t>MMP9</a:t>
            </a:r>
          </a:p>
          <a:p>
            <a:pPr/>
            <a:r>
              <a:t>MMP2</a:t>
            </a:r>
          </a:p>
          <a:p>
            <a:pPr/>
            <a:r>
              <a:t>C 120.990.88</a:t>
            </a:r>
          </a:p>
          <a:p>
            <a:pPr/>
            <a:r>
              <a:t>C 150.920.89</a:t>
            </a:r>
          </a:p>
          <a:p>
            <a:pPr/>
            <a:r>
              <a:t>AB 60.850.78</a:t>
            </a:r>
          </a:p>
          <a:p>
            <a:pPr/>
            <a:r>
              <a:t>C 130.731.11</a:t>
            </a:r>
          </a:p>
          <a:p>
            <a:pPr/>
            <a:r>
              <a:t>TIMP 31.001.00</a:t>
            </a:r>
          </a:p>
          <a:p>
            <a:pPr/>
            <a:r>
              <a:t>Interpretation: Values near 1.0 = binding similar to TIMP3-WT for that target. Selectivity signal comes from the raw cross-target comparison — this normalized view confirms variants are not simply super-binders on every target.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Secondary Metric: Binding Efficiency (DP/FITC+)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Cross-target comparable fraction metric — primary selectivity proof.</a:t>
            </a:r>
          </a:p>
          <a:p>
            <a:pPr/>
            <a:r>
              <a:t>Definition</a:t>
            </a:r>
          </a:p>
          <a:p>
            <a:pPr/>
            <a:r>
              <a:t>Binding Efficiency =</a:t>
            </a:r>
          </a:p>
          <a:p>
            <a:pPr/>
            <a:r>
              <a:t>&amp;nbsp;&amp;nbsp;%DP / %Expr+ = N(Q2) / N(Q1+Q2)</a:t>
            </a:r>
          </a:p>
          <a:p>
            <a:pPr/>
            <a:r>
              <a:t>Of the cells successfully displaying the variant (FITC+), what fraction</a:t>
            </a:r>
          </a:p>
          <a:p>
            <a:pPr/>
            <a:r>
              <a:t>also show detectable target binding (APC+)? Denominator is expression-normalized,</a:t>
            </a:r>
          </a:p>
          <a:p>
            <a:pPr/>
            <a:r>
              <a:t>making it directly comparable across targets and trials.</a:t>
            </a:r>
          </a:p>
          <a:p>
            <a:pPr/>
            <a:r>
              <a:t>Cross-target comparable because the FITC</a:t>
            </a:r>
          </a:p>
          <a:p>
            <a:pPr/>
            <a:r>
              <a:t>antibody (anti-Myc) is target-independent. The denominator is the same</a:t>
            </a:r>
          </a:p>
          <a:p>
            <a:pPr/>
            <a:r>
              <a:t>cell population regardless of which MMP is added. This makes MMP9 vs MMP2</a:t>
            </a:r>
          </a:p>
          <a:p>
            <a:pPr/>
            <a:r>
              <a:t>Binding Efficiency values directly comparable.</a:t>
            </a:r>
          </a:p>
          <a:p>
            <a:pPr/>
            <a:r>
              <a:t>Selectivity Results</a:t>
            </a:r>
          </a:p>
          <a:p>
            <a:pPr/>
            <a:r>
              <a:t>Construct</a:t>
            </a:r>
          </a:p>
          <a:p>
            <a:pPr/>
            <a:r>
              <a:t>MMP2</a:t>
            </a:r>
          </a:p>
          <a:p>
            <a:pPr/>
            <a:r>
              <a:t>MMP9</a:t>
            </a:r>
          </a:p>
          <a:p>
            <a:pPr/>
            <a:r>
              <a:t>Ratio</a:t>
            </a:r>
          </a:p>
          <a:p>
            <a:pPr/>
            <a:r>
              <a:t>Result</a:t>
            </a:r>
          </a:p>
          <a:p>
            <a:pPr/>
            <a:r>
              <a:t>C 12</a:t>
            </a:r>
          </a:p>
          <a:p>
            <a:pPr/>
            <a:r>
              <a:t>32.1%</a:t>
            </a:r>
          </a:p>
          <a:p>
            <a:pPr/>
            <a:r>
              <a:t>91.3%</a:t>
            </a:r>
          </a:p>
          <a:p>
            <a:pPr/>
            <a:r>
              <a:t>2.8×</a:t>
            </a:r>
          </a:p>
          <a:p>
            <a:pPr/>
            <a:r>
              <a:t>✓ **</a:t>
            </a:r>
          </a:p>
          <a:p>
            <a:pPr/>
            <a:r>
              <a:t>C 15</a:t>
            </a:r>
          </a:p>
          <a:p>
            <a:pPr/>
            <a:r>
              <a:t>33.8%</a:t>
            </a:r>
          </a:p>
          <a:p>
            <a:pPr/>
            <a:r>
              <a:t>88.6%</a:t>
            </a:r>
          </a:p>
          <a:p>
            <a:pPr/>
            <a:r>
              <a:t>2.6×</a:t>
            </a:r>
          </a:p>
          <a:p>
            <a:pPr/>
            <a:r>
              <a:t>✓ *</a:t>
            </a:r>
          </a:p>
          <a:p>
            <a:pPr/>
            <a:r>
              <a:t>AB 6</a:t>
            </a:r>
          </a:p>
          <a:p>
            <a:pPr/>
            <a:r>
              <a:t>23.8%</a:t>
            </a:r>
          </a:p>
          <a:p>
            <a:pPr/>
            <a:r>
              <a:t>89.9%</a:t>
            </a:r>
          </a:p>
          <a:p>
            <a:pPr/>
            <a:r>
              <a:t>3.8×</a:t>
            </a:r>
          </a:p>
          <a:p>
            <a:pPr/>
            <a:r>
              <a:t>✓ ***</a:t>
            </a:r>
          </a:p>
          <a:p>
            <a:pPr/>
            <a:r>
              <a:t>C 13</a:t>
            </a:r>
          </a:p>
          <a:p>
            <a:pPr/>
            <a:r>
              <a:t>16.0%</a:t>
            </a:r>
          </a:p>
          <a:p>
            <a:pPr/>
            <a:r>
              <a:t>45.4%</a:t>
            </a:r>
          </a:p>
          <a:p>
            <a:pPr/>
            <a:r>
              <a:t>—</a:t>
            </a:r>
          </a:p>
          <a:p>
            <a:pPr/>
            <a:r>
              <a:t>n.s. ✓</a:t>
            </a:r>
          </a:p>
          <a:p>
            <a:pPr/>
            <a:r>
              <a:t>AB 5</a:t>
            </a:r>
          </a:p>
          <a:p>
            <a:pPr/>
            <a:r>
              <a:t>11.8%</a:t>
            </a:r>
          </a:p>
          <a:p>
            <a:pPr/>
            <a:r>
              <a:t>37.6%</a:t>
            </a:r>
          </a:p>
          <a:p>
            <a:pPr/>
            <a:r>
              <a:t>—</a:t>
            </a:r>
          </a:p>
          <a:p>
            <a:pPr/>
            <a:r>
              <a:t>n.s. ✓</a:t>
            </a:r>
          </a:p>
          <a:p>
            <a:pPr/>
            <a:r>
              <a:t>TIMP 3</a:t>
            </a:r>
          </a:p>
          <a:p>
            <a:pPr/>
            <a:r>
              <a:t>21.9%</a:t>
            </a:r>
          </a:p>
          <a:p>
            <a:pPr/>
            <a:r>
              <a:t>54.5%</a:t>
            </a:r>
          </a:p>
          <a:p>
            <a:pPr/>
            <a:r>
              <a:t>2.5×</a:t>
            </a:r>
          </a:p>
          <a:p>
            <a:pPr/>
            <a:r>
              <a:t>ref *</a:t>
            </a:r>
          </a:p>
          <a:p>
            <a:pPr/>
            <a:r>
              <a:t>p&amp;lt;0.05, ** p&amp;lt;0.01, *** p&amp;lt;0.001 (Tukey-HSD, MMP9 vs MMP2 pair)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Positive Median Ratio — Cross-Target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APC/FITC ratio for FITC+ cells. Click group buttons to switch target pairs.</a:t>
            </a:r>
          </a:p>
          <a:p>
            <a:pPr/>
            <a:r>
              <a:t>Bind Med (Expr+)</a:t>
            </a:r>
          </a:p>
          <a:p>
            <a:pPr/>
            <a:r>
              <a:t>Raw APC-A intensity in expressors. Cross-target comparable. Primary poster metric.</a:t>
            </a:r>
          </a:p>
          <a:p>
            <a:pPr/>
            <a:r>
              <a:t>Binding Efficiency</a:t>
            </a:r>
          </a:p>
          <a:p>
            <a:pPr/>
            <a:r>
              <a:t>Fraction of expressors that bind. Cross-target. Primary selectivity proof.</a:t>
            </a:r>
          </a:p>
          <a:p>
            <a:pPr/>
            <a:r>
              <a:t>Norm Median Ratio</a:t>
            </a:r>
          </a:p>
          <a:p>
            <a:pPr/>
            <a:r>
              <a:t>APC/FITC ratio, WT-normed. Corrects for expression-level variation.</a:t>
            </a:r>
          </a:p>
          <a:p>
            <a:pPr/>
            <a:r>
              <a:t>Norm IWB Index</a:t>
            </a:r>
          </a:p>
          <a:p>
            <a:pPr/>
            <a:r>
              <a:t>Per-cell binding quality in DP population. Sensitive to threshold-crossing cells only.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Findings: 3 of 4 Predictions Confirmed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75% PPV — strong given the vast sequence landscape. Every control non-significant.</a:t>
            </a:r>
          </a:p>
          <a:p>
            <a:pPr/>
            <a:r>
              <a:t>Positive Outcomes (3/4 Predicted Selective)</a:t>
            </a:r>
          </a:p>
          <a:p>
            <a:pPr/>
            <a:r>
              <a:t>01</a:t>
            </a:r>
          </a:p>
          <a:p>
            <a:pPr/>
            <a:r>
              <a:t>3 of 4 Selective Confirmed: C 12 (p=0.012), C 15 (p=0.018), AB 6 (p=0.0002) confirmed by ANOVA + Tukey-HSD. Selectivity ratios 2.6–3.8× vs TIMP3-WT baseline (2.5×). AB 1 showed directional preference but ANOVA non-significant due to high trial-to-trial variance (σ = 43%).</a:t>
            </a:r>
          </a:p>
          <a:p>
            <a:pPr/>
            <a:r>
              <a:t>02</a:t>
            </a:r>
          </a:p>
          <a:p>
            <a:pPr/>
            <a:r>
              <a:t>Zero False Positives: All 4 non-selective control constructs (C 13, AB 5, AB 2, AB 3) showed non-significant ANOVA (p &gt; 0.05) — validating the T-score filter's specificity, not just sensitivity.</a:t>
            </a:r>
          </a:p>
          <a:p>
            <a:pPr/>
            <a:r>
              <a:t>03</a:t>
            </a:r>
          </a:p>
          <a:p>
            <a:pPr/>
            <a:r>
              <a:t>Scaffold Plasticity Confirmed: 6–15 aa loop insertions tolerated structurally and biologically. WT TIMP3 itself shows MMP9 preference (p=0.024) — engineered variants amplify a native preference.</a:t>
            </a:r>
          </a:p>
          <a:p>
            <a:pPr/>
            <a:r>
              <a:t>Pipeline Validation Logic</a:t>
            </a:r>
          </a:p>
          <a:p>
            <a:pPr/>
            <a:r>
              <a:t>Context for 75% PPV: Binders are not 50/50 by chance — the background rate of a randomly chosen sequence being both functional on yeast display AND MMP9-selective is far below 75%. Three statistically confirmed predictions from four targeted designs is a strong result against that baseline.</a:t>
            </a:r>
          </a:p>
          <a:p>
            <a:pPr/>
            <a:r>
              <a:t>Bidirectional concordance: 0 false positives in the non-selective set. A filter that only gets selective constructs right might be too lenient — confirmed true negatives validate the filter's specificity, not just sensitivity.</a:t>
            </a:r>
          </a:p>
          <a:p>
            <a:pPr/>
            <a:r>
              <a:t>Platform implication: 75% PPV at N=4 with 0 FP at N=4 justifies SPR kinetic characterization and next-cycle loop redesign without experimental redesign of the gating or statistical framework.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and Translational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Near-Term Experiments</a:t>
            </a:r>
          </a:p>
          <a:p>
            <a:pPr/>
            <a:r>
              <a:t>SPR Kinetics: KD, kon, koff for C 12, C 15, AB 6 vs purified MMP9 and MMP2. Absolute affinities enable direct comparison to marimastat/prinomastat clinical benchmarks.</a:t>
            </a:r>
          </a:p>
          <a:p>
            <a:pPr/>
            <a:r>
              <a:t>Reverse Selectivity (MMP2 &gt; MMP9): Demonstrates controllable pipeline steering. If the same pipeline produces MMP2-preferring variants on demand, selectivity is engineerable in either direction — not an artifact of the TIMP3 scaffold.</a:t>
            </a:r>
          </a:p>
          <a:p>
            <a:pPr/>
            <a:r>
              <a:t>ADAM10 Protocol Optimization: Titrate antibody concentration and induction time to achieve sufficient positive control signal; enables ADAM17/ADAM10 selectivity analysis with identical ANOVA framework.</a:t>
            </a:r>
          </a:p>
          <a:p>
            <a:pPr/>
            <a:r>
              <a:t>ESM-2 Saturation Mutagenesis: Per-residue fitness landscape for all positions in C 12, C 15, AB 6 loops — identify critical selectivity determinants and tolerant positions for second-round design.</a:t>
            </a:r>
          </a:p>
          <a:p>
            <a:pPr/>
            <a:r>
              <a:t>Translational Context</a:t>
            </a:r>
          </a:p>
          <a:p>
            <a:pPr/>
            <a:r>
              <a:t>MMP9 as oncology target: Overexpressed in &gt;15 solid tumor types; correlates with metastasis and poor prognosis. Prior pan-MMP inhibitors failed Phase III due to MMP2 off-target toxicity — not because MMP9 inhibition is wrong, but because selectivity was insufficient. An MMP9-specific TIMP3 variant addresses the actual failure mode.</a:t>
            </a:r>
          </a:p>
          <a:p>
            <a:pPr/>
            <a:r>
              <a:t>Target-agnostic framework: Any protein–protein interaction with available structural data is addressable by this pipeline. MMP9/MMP2 is the validation case; the computational workflow is identical for kinase isoforms, cytokine receptors, or viral surface proteins.</a:t>
            </a:r>
          </a:p>
          <a:p>
            <a:pPr/>
            <a:r>
              <a:t>Precision CAR-T analogy: Patient tumor genome → neoantigen identification → de novo binder generation → CAR construct with hyperspecific, genome-informed recognition. Combines precision genomics with AI-driven protein design to minimize on-target/off-tumor toxicity.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section</a:t>
            </a:r>
          </a:p>
          <a:p>
            <a:pPr/>
            <a:r>
              <a:t>transition: slide-up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Cross-Reactivity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2400"/>
            </a:pPr>
            <a:r>
              <a:t>TwistBio Constructs vs MMP1, MMP7, MMP8, MMP10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Cross-Reactivity Binding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Flow Cytometry assessment of TwistBio constructs against a multi-MMP panel.</a:t>
            </a:r>
          </a:p>
          <a:p>
            <a:pPr/>
            <a:r>
              <a:t>Observation: Weak Signal Across Panel</a:t>
            </a:r>
          </a:p>
          <a:p>
            <a:pPr/>
            <a:r>
              <a:t>All constructs (AB 3, 4, 6 and C 12) showed weak/minimal binding across all tested targets (MMP1, 7, 8, 10). The average binding fold change was ~1.18x over background.</a:t>
            </a:r>
          </a:p>
          <a:p>
            <a:pPr/>
            <a:r>
              <a:t>Control Validation Issue</a:t>
            </a:r>
          </a:p>
          <a:p>
            <a:pPr/>
            <a:r>
              <a:t>The positive control (TIMP 3) also exhibited extremely low binding (1.17x fold change). This indicates a potential issue with target biotinylation/labeling or the secondary staining protocol, rather than an inherent failure of the novel binders. Assays should be repeated with fresh/validated target batches.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Yeast Display Target Trial — ADAM10 &amp; MMP9 (June 10\textsuperscript{th},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Flow Cytometry assessment of TwistBio constructs against commercial and in-house targets.</a:t>
            </a:r>
          </a:p>
          <a:p>
            <a:pPr/>
            <a:r>
              <a:t>ADAM10 Fraction 6 (Ryan's run _R, FITC-A Binding, APC-A Expression).</a:t>
            </a:r>
          </a:p>
          <a:p>
            <a:pPr/>
            <a:r>
              <a:t>MMP9 Positives Validated</a:t>
            </a:r>
          </a:p>
          <a:p>
            <a:pPr/>
            <a:r>
              <a:t>Sino MMP9 binding was strong: positive control TIMP3 achieved 38.2% Double+ (491 MFI), and Twist variants AB 7 and AB 3 achieved 33.5% and 32.9% Double+ respectively, validating the display system.</a:t>
            </a:r>
          </a:p>
          <a:p>
            <a:pPr/>
            <a:r>
              <a:t>ADAM10 Binding Confirmed</a:t>
            </a:r>
          </a:p>
          <a:p>
            <a:pPr/>
            <a:r>
              <a:t>Re-analysis with the correct channel configuration (FITC-A binding) revealed robust binding for ADAM10 F6 and F9. AB 7 achieved 13.29% Double+ (1.56x MFI vs TIMP 3 positive control), and AB 1 reached 11.71% Double+.</a:t>
            </a:r>
          </a:p>
          <a:p>
            <a:pPr/>
            <a:r>
              <a:t>Commercial AbCam Validation</a:t>
            </a:r>
          </a:p>
          <a:p>
            <a:pPr/>
            <a:r>
              <a:t>Commercial AbCam ADAM10 confirmed target activity: TIMP 3 positive control achieved 12.65% Double+, and Twist variants AB 5 and AB 3 showed strong binding (MFI 1708 and 1665.5).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Trial Analysis &amp; Channel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Resolving analysis channel mismatch and explaining detection reagent failures.</a:t>
            </a:r>
          </a:p>
          <a:p>
            <a:pPr/>
            <a:r>
              <a:t>Channel Mismatch Resolved</a:t>
            </a:r>
          </a:p>
          <a:p>
            <a:pPr/>
            <a:r>
              <a:t>The default pipeline assumed a PE-A binding channel (Gavin's protocol). Re-running the pipeline with the correct FITC-A channel configuration for Ryan's run (_R) corrected the false-negative results.</a:t>
            </a:r>
          </a:p>
          <a:p>
            <a:pPr/>
            <a:r>
              <a:t>Detection Reagent Troubleshooting</a:t>
            </a:r>
          </a:p>
          <a:p>
            <a:pPr/>
            <a:r>
              <a:t>PE-A Reagent Failure: Gavin's run (_G) used 555-conjugated anti-FLAG and showed low signal (&amp;lt;1% Double+) across all samples. This points to a failure in his PE detection reagents or sample preparation.</a:t>
            </a:r>
          </a:p>
          <a:p>
            <a:pPr/>
            <a:r>
              <a:t>FITC-A Validation: Using AF488 anti-mouse (FITC) for anti-FLAG binding and AF647 anti-rabbit (APC) for anti-c-myc expression confirmed high target activity.</a:t>
            </a:r>
          </a:p>
          <a:p>
            <a:pPr/>
            <a:r>
              <a:t>Spillover QC: Gating and spillover correction worked as expected (Alpha = 0.1638), eliminating false-positive bleed-through between channels.</a:t>
            </a:r>
          </a:p>
          <a:p>
            <a:pPr/>
            <a:r>
              <a:t>Active Target Conclusion</a:t>
            </a:r>
          </a:p>
          <a:p>
            <a:pPr/>
            <a:r>
              <a:t>Both in-house purified ADAM10 FPLC fractions (F6 and F9) are folded and active, showing clear target binding and making them suitable for sorting and selectivity validations.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section</a:t>
            </a:r>
          </a:p>
          <a:p>
            <a:pPr/>
            <a:r>
              <a:t>transition: slide-up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ADAM10/17 Expression &amp; Purification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2400"/>
            </a:pPr>
            <a:r>
              <a:t>FPLC and SDS-PAGE Optimization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FPLC Purification — ADAM10 &amp;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Optimization of Anion Exchange Chromatography (HiTrap Q FF).</a:t>
            </a:r>
          </a:p>
          <a:p>
            <a:pPr/>
            <a:r>
              <a:t>ADAM10 (Sam's sample)</a:t>
            </a:r>
          </a:p>
          <a:p>
            <a:pPr/>
            <a:r>
              <a:t>Run on AEC SAMPLE HiTrap Q FF preset. Only UV peak is in sample application.</a:t>
            </a:r>
          </a:p>
          <a:p>
            <a:pPr/>
            <a:r>
              <a:t>ADAM10-pMopac</a:t>
            </a:r>
          </a:p>
          <a:p>
            <a:pPr/>
            <a:r>
              <a:t>Diluted 1:4 with Buffer A. Something is eluting during wash. May need a more aggressive NaCl concentration during wash.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SDS-PAGE &amp; Silver Stain Validation (June 2\textsuperscript{nd},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Successful detection and optimization of ADAM10 expression and FPLC fractions.</a:t>
            </a:r>
          </a:p>
          <a:p>
            <a:pPr/>
            <a:r>
              <a:t>ADAM10 Expression (Coomassie)</a:t>
            </a:r>
          </a:p>
          <a:p>
            <a:pPr/>
            <a:r>
              <a:t>Expression test part 2. Bands visible at ~60-70 kDa corresponding to catalytic domain.</a:t>
            </a:r>
          </a:p>
          <a:p>
            <a:pPr/>
            <a:r>
              <a:t>Comparison with Jake's samples provides an independent expression benchmark.</a:t>
            </a:r>
          </a:p>
          <a:p>
            <a:pPr/>
            <a:r>
              <a:t>Low-Abundance (Silver Stain)</a:t>
            </a:r>
          </a:p>
          <a:p>
            <a:pPr/>
            <a:r>
              <a:t>Pierce Silver Stain of FPLC fractions. Confirmed presence in low-concentration samples.</a:t>
            </a:r>
          </a:p>
          <a:p>
            <a:pPr/>
            <a:r>
              <a:t>Detects F6 leakage in filtrate. Ladder compromised, so band identity is approximate.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Protein Concentration &amp; Recovery (June 2\textsuperscript{nd},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Evaluation of FPLC fractions following spin concentration with Amicon Ultra-4 (10 kDa MWCO).</a:t>
            </a:r>
          </a:p>
          <a:p>
            <a:pPr/>
            <a:r>
              <a:t>NanoDrop A280 Protein Concentrations</a:t>
            </a:r>
          </a:p>
          <a:p>
            <a:pPr/>
            <a:r>
              <a:t>Sample Name</a:t>
            </a:r>
          </a:p>
          <a:p>
            <a:pPr/>
            <a:r>
              <a:t>Protein (mg/mL)</a:t>
            </a:r>
          </a:p>
          <a:p>
            <a:pPr/>
            <a:r>
              <a:t>A280</a:t>
            </a:r>
          </a:p>
          <a:p>
            <a:pPr/>
            <a:r>
              <a:t>A260/A280</a:t>
            </a:r>
          </a:p>
          <a:p>
            <a:pPr/>
            <a:r>
              <a:t>A10 FXN 6 Unconcentrated</a:t>
            </a:r>
          </a:p>
          <a:p>
            <a:pPr/>
            <a:r>
              <a:t>0.163</a:t>
            </a:r>
          </a:p>
          <a:p>
            <a:pPr/>
            <a:r>
              <a:t>0.163</a:t>
            </a:r>
          </a:p>
          <a:p>
            <a:pPr/>
            <a:r>
              <a:t>0.963</a:t>
            </a:r>
          </a:p>
          <a:p>
            <a:pPr/>
            <a:r>
              <a:t>A10 FXN 6 Filtrate (Leakage)</a:t>
            </a:r>
          </a:p>
          <a:p>
            <a:pPr/>
            <a:r>
              <a:t>0.176</a:t>
            </a:r>
          </a:p>
          <a:p>
            <a:pPr/>
            <a:r>
              <a:t>0.176</a:t>
            </a:r>
          </a:p>
          <a:p>
            <a:pPr/>
            <a:r>
              <a:t>0.981</a:t>
            </a:r>
          </a:p>
          <a:p>
            <a:pPr/>
            <a:r>
              <a:t>A10 FXN 6 Residue (3.2x)</a:t>
            </a:r>
          </a:p>
          <a:p>
            <a:pPr/>
            <a:r>
              <a:t>0.519</a:t>
            </a:r>
          </a:p>
          <a:p>
            <a:pPr/>
            <a:r>
              <a:t>0.519</a:t>
            </a:r>
          </a:p>
          <a:p>
            <a:pPr/>
            <a:r>
              <a:t>0.779</a:t>
            </a:r>
          </a:p>
          <a:p>
            <a:pPr/>
            <a:r>
              <a:t>A10 FXN 9 Unconcentrated</a:t>
            </a:r>
          </a:p>
          <a:p>
            <a:pPr/>
            <a:r>
              <a:t>0.141</a:t>
            </a:r>
          </a:p>
          <a:p>
            <a:pPr/>
            <a:r>
              <a:t>0.141</a:t>
            </a:r>
          </a:p>
          <a:p>
            <a:pPr/>
            <a:r>
              <a:t>1.309</a:t>
            </a:r>
          </a:p>
          <a:p>
            <a:pPr/>
            <a:r>
              <a:t>A10 FXN 9 Filtrate</a:t>
            </a:r>
          </a:p>
          <a:p>
            <a:pPr/>
            <a:r>
              <a:t>0.063</a:t>
            </a:r>
          </a:p>
          <a:p>
            <a:pPr/>
            <a:r>
              <a:t>0.063</a:t>
            </a:r>
          </a:p>
          <a:p>
            <a:pPr/>
            <a:r>
              <a:t>1.358</a:t>
            </a:r>
          </a:p>
          <a:p>
            <a:pPr/>
            <a:r>
              <a:t>A10 FXN 9 Residue (6.1x)</a:t>
            </a:r>
          </a:p>
          <a:p>
            <a:pPr/>
            <a:r>
              <a:t>0.863</a:t>
            </a:r>
          </a:p>
          <a:p>
            <a:pPr/>
            <a:r>
              <a:t>0.863</a:t>
            </a:r>
          </a:p>
          <a:p>
            <a:pPr/>
            <a:r>
              <a:t>0.803</a:t>
            </a:r>
          </a:p>
          <a:p>
            <a:pPr/>
            <a:r>
              <a:t>ADAM 17 FXN 12</a:t>
            </a:r>
          </a:p>
          <a:p>
            <a:pPr/>
            <a:r>
              <a:t>0.141</a:t>
            </a:r>
          </a:p>
          <a:p>
            <a:pPr/>
            <a:r>
              <a:t>0.141</a:t>
            </a:r>
          </a:p>
          <a:p>
            <a:pPr/>
            <a:r>
              <a:t>0.930</a:t>
            </a:r>
          </a:p>
          <a:p>
            <a:pPr/>
            <a:r>
              <a:t>Key Accomplishments</a:t>
            </a:r>
          </a:p>
          <a:p>
            <a:pPr/>
            <a:r>
              <a:t>Successful Concentration: Spin concentration is highly effective for concentrating FPLC fractions. ADAM10 FXN 9 yielded a 6.1x increase in concentration (up to 0.863 mg/mL) with minimal loss in filtrate (0.063 mg/mL).</a:t>
            </a:r>
          </a:p>
          <a:p>
            <a:pPr/>
            <a:r>
              <a:t>Leakage Alert</a:t>
            </a:r>
          </a:p>
          <a:p>
            <a:pPr/>
            <a:r>
              <a:t>ADAM10 FXN 6 Membrane Failure: A10 FXN 6 showed significant protein leakage in the filtrate (0.176 mg/mL vs 0.163 mg/mL unconcentrated), indicating a membrane seal failure in that specific centrifugal unit.</a:t>
            </a:r>
          </a:p>
          <a:p>
            <a:pPr/>
            <a:r>
              <a:t>Future Recommendations</a:t>
            </a:r>
          </a:p>
          <a:p>
            <a:pPr/>
            <a:r>
              <a:t>Check membrane integrity before run. Check yields of ADAM17 FXN 12 which remains low (0.141 mg/mL) and may require additional optimization.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ADAM17 Temperature Expansion Trial (June 3\textsuperscript{rd},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Coomassie Blue SDS-PAGE of expression across induction temperatures and timepoints.</a:t>
            </a:r>
          </a:p>
          <a:p>
            <a:pPr/>
            <a:r>
              <a:t>Coomassie Blue stained 12% Tris-glycine gel of ADAM17 expression (15 lanes).</a:t>
            </a:r>
          </a:p>
          <a:p>
            <a:pPr/>
            <a:r>
              <a:t>Overnight Expression Requirement</a:t>
            </a:r>
          </a:p>
          <a:p>
            <a:pPr/>
            <a:r>
              <a:t>Strong Overnight Expression: The overnight lysate pellet (Lane 13) shows strong expression with a prominent band at $\approx$30 kDa, indicating that overnight expression is required to obtain detectable levels.</a:t>
            </a:r>
          </a:p>
          <a:p>
            <a:pPr/>
            <a:r>
              <a:t>Localization &amp; Leakage QC</a:t>
            </a:r>
          </a:p>
          <a:p>
            <a:pPr/>
            <a:r>
              <a:t>No Periplasmic Leakage: Target protein is absent in the growth supernatants (Lanes 7, 8, 9). The overnight growth pellet (Lane 12) shows expression, while early growth pellets (Lanes 10, 11) show none.</a:t>
            </a:r>
          </a:p>
          <a:p>
            <a:pPr/>
            <a:r>
              <a:t>Temperature Optimization</a:t>
            </a:r>
          </a:p>
          <a:p>
            <a:pPr/>
            <a:r>
              <a:t>25°C Standardization: Early induction points (Lanes 14 and 15) show no bands. 25°C overnight induction is recommended to minimize inclusion body formation in the cell pellet, aligning with ADAM10 observations.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SDS-PAGE &amp; Silver Stain Rerun (June 10\textsuperscript{th},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Resolving migration issues with updated running gel chemistry and fresh buffers.</a:t>
            </a:r>
          </a:p>
          <a:p>
            <a:pPr/>
            <a:r>
              <a:t>ADAM10 Gel Rerun</a:t>
            </a:r>
          </a:p>
          <a:p>
            <a:pPr/>
            <a:r>
              <a:t>Successful resolution of FPLC Fraction 9 Retentate (Lane 14) showing a band in the 30-40 kDa range (expected catalytic domain size).</a:t>
            </a:r>
          </a:p>
          <a:p>
            <a:pPr/>
            <a:r>
              <a:t>ADAM17 Gel Rerun</a:t>
            </a:r>
          </a:p>
          <a:p>
            <a:pPr/>
            <a:r>
              <a:t>Successful resolution of FPLC Fraction 6 Retentate (Lane 14) resolving candidate target bands at 30-40 kDa with clean migration.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Western Blot &amp; Spin Concentration (June 11\textsuperscript{th}-12\textsuperscript{th},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Validating expression, secretion, and concentration of ADAM10/17-pMopac target preparations.</a:t>
            </a:r>
          </a:p>
          <a:p>
            <a:pPr/>
            <a:r>
              <a:t>Centrifugal Spin Concentration</a:t>
            </a:r>
          </a:p>
          <a:p>
            <a:pPr/>
            <a:r>
              <a:t>20-40x Concentration: Culture supernatants from expression trials (25°C, 30°C, and overnight) were concentrated using Amicon Ultra-4 (10 kDa MWCO) with no membrane failures or seal leakage.</a:t>
            </a:r>
          </a:p>
          <a:p>
            <a:pPr/>
            <a:r>
              <a:t>Western Blot Protocol QC</a:t>
            </a:r>
          </a:p>
          <a:p>
            <a:pPr/>
            <a:r>
              <a:t>Trans-Blot Turbo: Blotted onto PVDF membrane using a custom 1.3A 24V 10Min protocol. Blocked in 5% milk / TBST-Brij, then incubated with mouse anti-FLAG (1:1000) primary antibody.</a:t>
            </a:r>
          </a:p>
          <a:p>
            <a:pPr/>
            <a:r>
              <a:t>Western Blot Parameters</a:t>
            </a:r>
          </a:p>
          <a:p>
            <a:pPr/>
            <a:r>
              <a:t>Lanes Loaded: Ladder, A10 lysis pellet, A10 25°C/30°C/ON supernatants, A10 FXN 6, A17 25°C/30°C/ON supernatants, MMP2-FLAG (positive control).</a:t>
            </a:r>
          </a:p>
          <a:p>
            <a:pPr/>
            <a:r>
              <a:t>Blocking/Wash: Blocked in 5% milk / TBST-Brij, primary anti-FLAG incubation overnight, secondary HRP-conjugated anti-mouse.</a:t>
            </a:r>
          </a:p>
          <a:p>
            <a:pPr/>
            <a:r>
              <a:t>Imaging: Chemiluminescent ECL imaging and Ponceau S membrane total protein transfer staining completed on June 12th.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Western Blot Results &amp; Analysis (June 12\textsuperscript{th},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Validating soluble target expression and membrane transfer quality.</a:t>
            </a:r>
          </a:p>
          <a:p>
            <a:pPr/>
            <a:r>
              <a:t>Ponceau S Membrane Stain</a:t>
            </a:r>
          </a:p>
          <a:p>
            <a:pPr/>
            <a:r>
              <a:t>Uniform total protein transfer showing high-fidelity transfer of ladder and major bands (20260612).</a:t>
            </a:r>
          </a:p>
          <a:p>
            <a:pPr/>
            <a:r>
              <a:t>Western Blot (Anti-FLAG)</a:t>
            </a:r>
          </a:p>
          <a:p>
            <a:pPr/>
            <a:r>
              <a:t>Lane 3 (ADAM10 25°C supernatant) shows a single soluble band near 60 kDa; lanes 7-9 (ADAM17) show no signal.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BCA Assay — ADAM10 Concentration Standardization (June 12\textsuperscript{th},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Quantifying purified ADAM10 FPLC Fraction 6 for downstream binding trials.</a:t>
            </a:r>
          </a:p>
          <a:p>
            <a:pPr/>
            <a:r>
              <a:t>SpectraMax i3x Run</a:t>
            </a:r>
          </a:p>
          <a:p>
            <a:pPr/>
            <a:r>
              <a:t>Quadratic Fit ($R^2 = 0.9895$): Back-calculated neat, 1:2, and 1:5 dilutions yield a mean concentration of 205.46 μg/mL (~0.21 mg/mL).</a:t>
            </a:r>
          </a:p>
          <a:p>
            <a:pPr/>
            <a:r>
              <a:t>SPECTRAmax M5 Run</a:t>
            </a:r>
          </a:p>
          <a:p>
            <a:pPr/>
            <a:r>
              <a:t>Linear Fit ($R^2 = 0.9930$): Dilution adjusted values show a mean concentration of 193.89 μg/mL (~0.19 mg/mL).</a:t>
            </a:r>
          </a:p>
          <a:p>
            <a:pPr/>
            <a:r>
              <a:t>Standardized Concentration: Purified ADAM10 FPLC Fraction 6 concentration is standardized to 0.20 mg/mL for downstream display trials.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default</a:t>
            </a:r>
          </a:p>
          <a:p>
            <a:pPr/>
            <a:r>
              <a:t>transition: fade-out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Candidate Selection &amp; Loop Extraction (June 15\textsuperscript{th},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Isolating TIMP3 variable loop regions for synthesis ordering.</a:t>
            </a:r>
          </a:p>
          <a:p>
            <a:pPr/>
            <a:r>
              <a:t>Loop Extraction Logic</a:t>
            </a:r>
          </a:p>
          <a:p>
            <a:pPr/>
            <a:r>
              <a:t>To prepare candidates for synthesis, native framework boundaries were defined in select_binders_to_order.py to automatically extract the variable regions:</a:t>
            </a:r>
          </a:p>
          <a:p>
            <a:pPr/>
            <a:r>
              <a:t>AB Loop: Between PREFIX and REGION2</a:t>
            </a:r>
          </a:p>
          <a:p>
            <a:pPr/>
            <a:r>
              <a:t>C Loop: Between REGION2 and REGION3</a:t>
            </a:r>
          </a:p>
          <a:p>
            <a:pPr/>
            <a:r>
              <a:t>EF Loop: Between REGION3 and SUFFIX</a:t>
            </a:r>
          </a:p>
          <a:p>
            <a:pPr/>
            <a:r>
              <a:t>Eliminates manual splicing errors and ensures precise boundary isolation.</a:t>
            </a:r>
          </a:p>
          <a:p>
            <a:pPr/>
            <a:r>
              <a:t>Priority Selection Summary</a:t>
            </a:r>
          </a:p>
          <a:p>
            <a:pPr/>
            <a:r>
              <a:t>Filtered the candidate pool of 39 designs down to 10 prioritized binders:</a:t>
            </a:r>
          </a:p>
          <a:p>
            <a:pPr/>
            <a:r>
              <a:t>MMP9: 4 candidates (top composite: 0.816)</a:t>
            </a:r>
          </a:p>
          <a:p>
            <a:pPr/>
            <a:r>
              <a:t>ADAM17: 5 candidates (top composite: 0.792)</a:t>
            </a:r>
          </a:p>
          <a:p>
            <a:pPr/>
            <a:r>
              <a:t>MMP2: 1 candidate (composite: 0.785)</a:t>
            </a:r>
          </a:p>
          <a:p>
            <a:pPr/>
            <a:r>
              <a:t>Gates: pTM &amp;ge; 0.70, framework RMSD &amp;le; 4.0 Å, target ipTM &amp;ge; 0.50.</a:t>
            </a:r>
          </a:p>
          <a:p>
            <a:pPr/>
            <a:r>
              <a:t>Top prioritized designs for synthesis</a:t>
            </a:r>
          </a:p>
          <a:p>
            <a:pPr/>
            <a:r>
              <a:t>Design ID</a:t>
            </a:r>
          </a:p>
          <a:p>
            <a:pPr/>
            <a:r>
              <a:t>Target</a:t>
            </a:r>
          </a:p>
          <a:p>
            <a:pPr/>
            <a:r>
              <a:t>AB Loop</a:t>
            </a:r>
          </a:p>
          <a:p>
            <a:pPr/>
            <a:r>
              <a:t>C Loop</a:t>
            </a:r>
          </a:p>
          <a:p>
            <a:pPr/>
            <a:r>
              <a:t>EF Loop</a:t>
            </a:r>
          </a:p>
          <a:p>
            <a:pPr/>
            <a:r>
              <a:t>Comp</a:t>
            </a:r>
          </a:p>
          <a:p>
            <a:pPr/>
            <a:r>
              <a:t>MMP9_it15_d13_s0</a:t>
            </a:r>
          </a:p>
          <a:p>
            <a:pPr/>
            <a:r>
              <a:t>MMP9</a:t>
            </a:r>
          </a:p>
          <a:p>
            <a:pPr/>
            <a:r>
              <a:t>HTNPDPRRGGE</a:t>
            </a:r>
          </a:p>
          <a:p>
            <a:pPr/>
            <a:r>
              <a:t>ELTAM</a:t>
            </a:r>
          </a:p>
          <a:p>
            <a:pPr/>
            <a:r>
              <a:t>RACD</a:t>
            </a:r>
          </a:p>
          <a:p>
            <a:pPr/>
            <a:r>
              <a:t>0.816</a:t>
            </a:r>
          </a:p>
          <a:p>
            <a:pPr/>
            <a:r>
              <a:t>MMP9_it15_d19_s0</a:t>
            </a:r>
          </a:p>
          <a:p>
            <a:pPr/>
            <a:r>
              <a:t>MMP9</a:t>
            </a:r>
          </a:p>
          <a:p>
            <a:pPr/>
            <a:r>
              <a:t>DSVTGGTPSKS</a:t>
            </a:r>
          </a:p>
          <a:p>
            <a:pPr/>
            <a:r>
              <a:t>ASSAL</a:t>
            </a:r>
          </a:p>
          <a:p>
            <a:pPr/>
            <a:r>
              <a:t>RACD</a:t>
            </a:r>
          </a:p>
          <a:p>
            <a:pPr/>
            <a:r>
              <a:t>0.798</a:t>
            </a:r>
          </a:p>
          <a:p>
            <a:pPr/>
            <a:r>
              <a:t>ADAM17_it33_d11_s0</a:t>
            </a:r>
          </a:p>
          <a:p>
            <a:pPr/>
            <a:r>
              <a:t>ADAM17</a:t>
            </a:r>
          </a:p>
          <a:p>
            <a:pPr/>
            <a:r>
              <a:t>EATIDGSPAKE</a:t>
            </a:r>
          </a:p>
          <a:p>
            <a:pPr/>
            <a:r>
              <a:t>ESGVYHGMPIG</a:t>
            </a:r>
          </a:p>
          <a:p>
            <a:pPr/>
            <a:r>
              <a:t>LGPCS</a:t>
            </a:r>
          </a:p>
          <a:p>
            <a:pPr/>
            <a:r>
              <a:t>0.792</a:t>
            </a:r>
          </a:p>
          <a:p>
            <a:pPr/>
            <a:r>
              <a:t>ADAM17_it31_d15_s0</a:t>
            </a:r>
          </a:p>
          <a:p>
            <a:pPr/>
            <a:r>
              <a:t>ADAM17</a:t>
            </a:r>
          </a:p>
          <a:p>
            <a:pPr/>
            <a:r>
              <a:t>DSPIPNTKD</a:t>
            </a:r>
          </a:p>
          <a:p>
            <a:pPr/>
            <a:r>
              <a:t>ESDYGSIA</a:t>
            </a:r>
          </a:p>
          <a:p>
            <a:pPr/>
            <a:r>
              <a:t>DACS</a:t>
            </a:r>
          </a:p>
          <a:p>
            <a:pPr/>
            <a:r>
              <a:t>0.786</a:t>
            </a:r>
          </a:p>
          <a:p>
            <a:pPr/>
            <a:r>
              <a:t>MMP2_it24_d15_s0</a:t>
            </a:r>
          </a:p>
          <a:p>
            <a:pPr/>
            <a:r>
              <a:t>MMP2</a:t>
            </a:r>
          </a:p>
          <a:p>
            <a:pPr/>
            <a:r>
              <a:t>KNVKDFFTGSMGDE</a:t>
            </a:r>
          </a:p>
          <a:p>
            <a:pPr/>
            <a:r>
              <a:t>ADSKFENGKSIG</a:t>
            </a:r>
          </a:p>
          <a:p>
            <a:pPr/>
            <a:r>
              <a:t>DLCS</a:t>
            </a:r>
          </a:p>
          <a:p>
            <a:pPr/>
            <a:r>
              <a:t>0.785</a:t>
            </a:r>
          </a:p>
          <a:p>
            <a:pPr/>
            <a:r>
              <a:t>Full list exported to order_list.csv (Local/iterative_refinement/ordering/).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layout: center</a:t>
            </a:r>
          </a:p>
          <a:p>
            <a:pPr/>
            <a:r>
              <a:t>class: text-center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2400"/>
            </a:pPr>
            <a:r>
              <a:t>De Novo Binder Generation — RFdiffusion to Flow Cytometry</a:t>
            </a:r>
          </a:p>
          <a:p>
            <a:pPr/>
            <a:r>
              <a:t>75%</a:t>
            </a:r>
          </a:p>
          <a:p>
            <a:pPr/>
            <a:r>
              <a:t>Positive Predictive Value (3/4)</a:t>
            </a:r>
          </a:p>
          <a:p>
            <a:pPr/>
            <a:r>
              <a:t>3.8×</a:t>
            </a:r>
          </a:p>
          <a:p>
            <a:pPr/>
            <a:r>
              <a:t>Peak Selectivity (AB 6)</a:t>
            </a:r>
          </a:p>
          <a:p>
            <a:pPr/>
            <a:r>
              <a:t>&gt;98%</a:t>
            </a:r>
          </a:p>
          <a:p>
            <a:pPr/>
            <a:r>
              <a:t>Candidate Reduction</a:t>
            </a:r>
          </a:p>
          <a:p>
            <a:pPr/>
            <a:r>
              <a:t>Repository: PhD-Research / Demonstrations / De_Novo_Binder_Generation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
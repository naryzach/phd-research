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center</a:t>
            </a:r>
          </a:p>
          <a:p>
            <a:pPr/>
            <a:r>
              <a:t>class: text-center</a:t>
            </a:r>
          </a:p>
          <a:p>
            <a:pPr/>
            <a:r>
              <a:t>transition: fade-out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 Novo Binder Generation</a:t>
            </a:r>
          </a:p>
        </p:txBody>
      </p:sp>
      <p:sp>
        <p:nvSpPr>
          <p:cNvPr id="3" name="Content Placeholder 2"/>
          <p:cNvSpPr>
            <a:spLocks noGrp="1"/>
          </p:cNvSpPr>
          <p:nvPr>
            <p:ph idx="1"/>
          </p:nvPr>
        </p:nvSpPr>
        <p:spPr/>
        <p:txBody>
          <a:bodyPr wrap="square"/>
          <a:lstStyle/>
          <a:p/>
          <a:p>
            <a:pPr>
              <a:defRPr b="1" sz="2400"/>
            </a:pPr>
            <a:r>
              <a:t>RFdiffusion to Experimental Validation Pipeline</a:t>
            </a:r>
          </a:p>
          <a:p>
            <a:pPr/>
            <a:r>
              <a:t>Thread Status</a:t>
            </a:r>
          </a:p>
          <a:p>
            <a:pPr/>
            <a:r>
              <a:t>Validated Results</a:t>
            </a:r>
          </a:p>
          <a:p>
            <a:pPr/>
            <a:r>
              <a:t>Primary Targets</a:t>
            </a:r>
          </a:p>
          <a:p>
            <a:pPr/>
            <a:r>
              <a:t>ADAM10/17 | MMP2/9</a:t>
            </a:r>
          </a:p>
          <a:p>
            <a:pPr/>
            <a:r>
              <a:t>h1 {</a:t>
            </a:r>
          </a:p>
          <a:p>
            <a:pPr/>
            <a:r>
              <a:t>background: linear-gradient(135deg, #58a6ff 0%, #00f2fe 100%);</a:t>
            </a:r>
          </a:p>
          <a:p>
            <a:pPr/>
            <a:r>
              <a:t>-webkit-background-clip: text;</a:t>
            </a:r>
          </a:p>
          <a:p>
            <a:pPr/>
            <a:r>
              <a:t>-webkit-text-fill-color: transparent;</a:t>
            </a:r>
          </a:p>
          <a:p>
            <a:pPr/>
            <a:r>
              <a:t>font-weight: 800;</a:t>
            </a:r>
          </a:p>
          <a:p>
            <a:pPr/>
            <a:r>
              <a:t>letter-spacing: -0.02em;</a:t>
            </a:r>
          </a:p>
          <a:p>
            <a:pPr/>
            <a: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Architecture</a:t>
            </a:r>
          </a:p>
        </p:txBody>
      </p:sp>
      <p:sp>
        <p:nvSpPr>
          <p:cNvPr id="3" name="Content Placeholder 2"/>
          <p:cNvSpPr>
            <a:spLocks noGrp="1"/>
          </p:cNvSpPr>
          <p:nvPr>
            <p:ph idx="1"/>
          </p:nvPr>
        </p:nvSpPr>
        <p:spPr/>
        <p:txBody>
          <a:bodyPr wrap="square"/>
          <a:lstStyle/>
          <a:p/>
          <a:p>
            <a:pPr/>
            <a:r>
              <a:t>The integration of generative modeling and high-throughput experimental screening.</a:t>
            </a:r>
          </a:p>
          <a:p>
            <a:pPr/>
            <a:r>
              <a:t>Computational Phase</a:t>
            </a:r>
          </a:p>
          <a:p>
            <a:pPr/>
            <a:r>
              <a:t>— Loop-centric RFdiffusion on catalytic domains</a:t>
            </a:r>
          </a:p>
          <a:p>
            <a:pPr/>
            <a:r>
              <a:t>— Sequence optimization via ProteinMPNN</a:t>
            </a:r>
          </a:p>
          <a:p>
            <a:pPr/>
            <a:r>
              <a:t>— Z-score filtering of AlphaFold ensemble predictions</a:t>
            </a:r>
          </a:p>
          <a:p>
            <a:pPr/>
            <a:r>
              <a:t>Experimental Phase</a:t>
            </a:r>
          </a:p>
          <a:p>
            <a:pPr/>
            <a:r>
              <a:t>— Golden Gate assembly of design libraries</a:t>
            </a:r>
          </a:p>
          <a:p>
            <a:pPr/>
            <a:r>
              <a:t>— Multiplexed Yeast Surface Display titration</a:t>
            </a:r>
          </a:p>
          <a:p>
            <a:pPr/>
            <a:r>
              <a:t>— Automated FCS affinity and specificity profiling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section</a:t>
            </a:r>
          </a:p>
          <a:p>
            <a:pPr/>
            <a:r>
              <a:t>transition: slide-up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1</a:t>
            </a:r>
          </a:p>
        </p:txBody>
      </p:sp>
      <p:sp>
        <p:nvSpPr>
          <p:cNvPr id="3" name="Content Placeholder 2"/>
          <p:cNvSpPr>
            <a:spLocks noGrp="1"/>
          </p:cNvSpPr>
          <p:nvPr>
            <p:ph idx="1"/>
          </p:nvPr>
        </p:nvSpPr>
        <p:spPr/>
        <p:txBody>
          <a:bodyPr wrap="square"/>
          <a:lstStyle/>
          <a:p/>
          <a:p>
            <a:pPr>
              <a:defRPr b="1" sz="2400"/>
            </a:pPr>
            <a:r>
              <a:t>Computational Design and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RFdiffusion Loop Scaffolding</a:t>
            </a:r>
          </a:p>
        </p:txBody>
      </p:sp>
      <p:sp>
        <p:nvSpPr>
          <p:cNvPr id="3" name="Content Placeholder 2"/>
          <p:cNvSpPr>
            <a:spLocks noGrp="1"/>
          </p:cNvSpPr>
          <p:nvPr>
            <p:ph idx="1"/>
          </p:nvPr>
        </p:nvSpPr>
        <p:spPr/>
        <p:txBody>
          <a:bodyPr wrap="square"/>
          <a:lstStyle/>
          <a:p/>
          <a:p>
            <a:pPr/>
            <a:r>
              <a:t>Targeting variable surface loops on the TIMP3 scaffold.</a:t>
            </a:r>
          </a:p>
          <a:p>
            <a:pPr/>
            <a:r>
              <a:t>We utilized length-variable loop generation (8–24 residues) to optimize the interaction surface against ADAM10 and ADAM17 catalytic domains.</a:t>
            </a:r>
          </a:p>
          <a:p>
            <a:pPr/>
            <a:r>
              <a:t>Design Parameters</a:t>
            </a:r>
          </a:p>
          <a:p>
            <a:pPr/>
            <a:r>
              <a:t>Targets MMP / ADAM</a:t>
            </a:r>
          </a:p>
          <a:p>
            <a:pPr/>
            <a:r>
              <a:t>Lengths 8, 12, 16, 20, 24</a:t>
            </a:r>
          </a:p>
          <a:p>
            <a:pPr/>
            <a:r>
              <a:t>Noise 0.1 - 0.5</a:t>
            </a:r>
          </a:p>
          <a:p>
            <a:pPr/>
            <a:r>
              <a:t>Iterations 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Sequence Optimization &amp; Metrics</a:t>
            </a:r>
          </a:p>
        </p:txBody>
      </p:sp>
      <p:sp>
        <p:nvSpPr>
          <p:cNvPr id="3" name="Content Placeholder 2"/>
          <p:cNvSpPr>
            <a:spLocks noGrp="1"/>
          </p:cNvSpPr>
          <p:nvPr>
            <p:ph idx="1"/>
          </p:nvPr>
        </p:nvSpPr>
        <p:spPr/>
        <p:txBody>
          <a:bodyPr wrap="square"/>
          <a:lstStyle/>
          <a:p/>
          <a:p>
            <a:pPr/>
            <a:r>
              <a:t>Ranking design confidence via ProteinMPNN and AlphaFold Z-Scores.</a:t>
            </a:r>
          </a:p>
          <a:p>
            <a:pPr/>
            <a:r>
              <a:t>Final Twist Ordered Library (Dec 2025)</a:t>
            </a:r>
          </a:p>
          <a:p>
            <a:pPr/>
            <a:r>
              <a:t>Consensus Selection Logic</a:t>
            </a:r>
          </a:p>
          <a:p>
            <a:pPr/>
            <a:r>
              <a:t>To minimize false positives, we employed a multi-dimensional consensus filter. Candidates were ranked across independent metrics for interface confidence (iPTM), local loop stability (LpLDDT), and distance consistency (PAE).</a:t>
            </a:r>
          </a:p>
          <a:p>
            <a:pPr/>
            <a:r>
              <a:t>Elite: Candidates with exceptional interface confidence (iPTM &gt; 0.86)</a:t>
            </a:r>
          </a:p>
          <a:p>
            <a:pPr/>
            <a:r>
              <a:t>Design: Robust winners passing multi-metric consensus thresholds</a:t>
            </a:r>
          </a:p>
          <a:p>
            <a:pPr/>
            <a:r>
              <a:t>Z-Score Calibration</a:t>
            </a:r>
          </a:p>
          <a:p>
            <a:pPr/>
            <a:r>
              <a:t>Raw structural scores were transformed into Z-scores relative to an ensemble of 500 "decoy" de novo designs. This identifies variants that reside in the tail of the distribution, ensuring that the selected binders represent significant structural outliers compared to stochastic loop folding.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AlphaFold Confidence Matrix</a:t>
            </a:r>
          </a:p>
        </p:txBody>
      </p:sp>
      <p:sp>
        <p:nvSpPr>
          <p:cNvPr id="3" name="Content Placeholder 2"/>
          <p:cNvSpPr>
            <a:spLocks noGrp="1"/>
          </p:cNvSpPr>
          <p:nvPr>
            <p:ph idx="1"/>
          </p:nvPr>
        </p:nvSpPr>
        <p:spPr/>
        <p:txBody>
          <a:bodyPr wrap="square"/>
          <a:lstStyle/>
          <a:p/>
          <a:p>
            <a:pPr/>
            <a:r>
              <a:t>Standardized Z-Score analysis across target pairs.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section</a:t>
            </a:r>
          </a:p>
          <a:p>
            <a:pPr/>
            <a:r>
              <a:t>transition: slide-up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Phase 2</a:t>
            </a:r>
          </a:p>
        </p:txBody>
      </p:sp>
      <p:sp>
        <p:nvSpPr>
          <p:cNvPr id="3" name="Content Placeholder 2"/>
          <p:cNvSpPr>
            <a:spLocks noGrp="1"/>
          </p:cNvSpPr>
          <p:nvPr>
            <p:ph idx="1"/>
          </p:nvPr>
        </p:nvSpPr>
        <p:spPr/>
        <p:txBody>
          <a:bodyPr wrap="square"/>
          <a:lstStyle/>
          <a:p/>
          <a:p>
            <a:pPr>
              <a:defRPr b="1" sz="2400"/>
            </a:pPr>
            <a:r>
              <a:t>Experimental Validation and Selectivity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Interactive FCS Analysis</a:t>
            </a:r>
          </a:p>
        </p:txBody>
      </p:sp>
      <p:sp>
        <p:nvSpPr>
          <p:cNvPr id="3" name="Content Placeholder 2"/>
          <p:cNvSpPr>
            <a:spLocks noGrp="1"/>
          </p:cNvSpPr>
          <p:nvPr>
            <p:ph idx="1"/>
          </p:nvPr>
        </p:nvSpPr>
        <p:spPr/>
        <p:txBody>
          <a:bodyPr wrap="square"/>
          <a:lstStyle/>
          <a:p/>
          <a:p>
            <a:pPr/>
            <a:r>
              <a:t>Detailed exploration of raw population distributions and gating metrics.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Binding Efficiency and Specificity</a:t>
            </a:r>
          </a:p>
        </p:txBody>
      </p:sp>
      <p:sp>
        <p:nvSpPr>
          <p:cNvPr id="3" name="Content Placeholder 2"/>
          <p:cNvSpPr>
            <a:spLocks noGrp="1"/>
          </p:cNvSpPr>
          <p:nvPr>
            <p:ph idx="1"/>
          </p:nvPr>
        </p:nvSpPr>
        <p:spPr/>
        <p:txBody>
          <a:bodyPr wrap="square"/>
          <a:lstStyle/>
          <a:p/>
          <a:p>
            <a:pPr/>
            <a:r>
              <a:t>Normalizing experimental results against TIMP3-WT baseline.</a:t>
            </a:r>
          </a:p>
          <a:p>
            <a:pPr/>
            <a:r>
              <a:t>Analysis Methodology</a:t>
            </a:r>
          </a:p>
          <a:p>
            <a:pPr/>
            <a:r>
              <a:t>Binders were evaluated for normalization against TIMP3-WT across multi-target trials.</a:t>
            </a:r>
          </a:p>
          <a:p>
            <a:pPr/>
            <a:r>
              <a:t>The AB loops showed a significant enrichment in binding efficiency (DP/FITC+) for the MMP3 and MMP9 families, while ADAM10 served as a negative control due to batch-specific target degradation.</a:t>
            </a:r>
          </a:p>
          <a:p>
            <a:pPr/>
            <a:r>
              <a:t>Target specificity switch: Successful discrimination between MMP and ADAM families</a:t>
            </a:r>
          </a:p>
          <a:p>
            <a:pPr/>
            <a:r>
              <a:t>Correlation: AlphaFold ipTM Z-scores vs Experimental affinity</a:t>
            </a:r>
          </a:p>
          <a:p>
            <a:pPr/>
            <a:r>
              <a:t>Experimental Results</a:t>
            </a:r>
          </a:p>
          <a:p>
            <a:pPr/>
            <a:r>
              <a:t>~1.7x</a:t>
            </a:r>
          </a:p>
          <a:p>
            <a:pPr/>
            <a:r>
              <a:t>MMP3 Enrichment</a:t>
            </a:r>
          </a:p>
          <a:p>
            <a:pPr/>
            <a:r>
              <a:t>93%</a:t>
            </a:r>
          </a:p>
          <a:p>
            <a:pPr/>
            <a:r>
              <a:t>Binding Efficiency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Cross-Target Binding Analysis</a:t>
            </a:r>
          </a:p>
        </p:txBody>
      </p:sp>
      <p:sp>
        <p:nvSpPr>
          <p:cNvPr id="3" name="Content Placeholder 2"/>
          <p:cNvSpPr>
            <a:spLocks noGrp="1"/>
          </p:cNvSpPr>
          <p:nvPr>
            <p:ph idx="1"/>
          </p:nvPr>
        </p:nvSpPr>
        <p:spPr/>
        <p:txBody>
          <a:bodyPr wrap="square"/>
          <a:lstStyle/>
          <a:p/>
          <a:p>
            <a:pPr/>
            <a:r>
              <a:t>Statistical summary of normalized median intensity across replicates.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default</a:t>
            </a:r>
          </a:p>
          <a:p>
            <a:pPr/>
            <a:r>
              <a:t>transition: fade-out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and Strategic Roadmap</a:t>
            </a:r>
          </a:p>
        </p:txBody>
      </p:sp>
      <p:sp>
        <p:nvSpPr>
          <p:cNvPr id="3" name="Content Placeholder 2"/>
          <p:cNvSpPr>
            <a:spLocks noGrp="1"/>
          </p:cNvSpPr>
          <p:nvPr>
            <p:ph idx="1"/>
          </p:nvPr>
        </p:nvSpPr>
        <p:spPr/>
        <p:txBody>
          <a:bodyPr wrap="square"/>
          <a:lstStyle/>
          <a:p/>
          <a:p>
            <a:pPr/>
            <a:r>
              <a:t>Summary of current progress and future research directions.</a:t>
            </a:r>
          </a:p>
          <a:p>
            <a:pPr/>
            <a:r>
              <a:t>Key Findings</a:t>
            </a:r>
          </a:p>
          <a:p>
            <a:pPr/>
            <a:r>
              <a:t>01</a:t>
            </a:r>
          </a:p>
          <a:p>
            <a:pPr/>
            <a:r>
              <a:t>Successful de novo generation of high-affinity binders for ADAM10.</a:t>
            </a:r>
          </a:p>
          <a:p>
            <a:pPr/>
            <a:r>
              <a:t>02</a:t>
            </a:r>
          </a:p>
          <a:p>
            <a:pPr/>
            <a:r>
              <a:t>Validated selectivity switch between ADAM10/17 and MMP2/9 families.</a:t>
            </a:r>
          </a:p>
          <a:p>
            <a:pPr/>
            <a:r>
              <a:t>03</a:t>
            </a:r>
          </a:p>
          <a:p>
            <a:pPr/>
            <a:r>
              <a:t>Correlation established between AlphaFold Z-scores and binding efficiency.</a:t>
            </a:r>
          </a:p>
          <a:p>
            <a:pPr/>
            <a:r>
              <a:t>In Vitro</a:t>
            </a:r>
          </a:p>
          <a:p>
            <a:pPr/>
            <a:r>
              <a:t>FRET Kinetics</a:t>
            </a:r>
          </a:p>
          <a:p>
            <a:pPr/>
            <a:r>
              <a:t>Structural</a:t>
            </a:r>
          </a:p>
          <a:p>
            <a:pPr/>
            <a:r>
              <a:t>X-Ray Resolution</a:t>
            </a:r>
          </a:p>
          <a:p>
            <a:pPr/>
            <a:r>
              <a:t>Optimization</a:t>
            </a:r>
          </a:p>
          <a:p>
            <a:pPr/>
            <a:r>
              <a:t>ESM-2 Refinement</a:t>
            </a:r>
          </a:p>
          <a:p>
            <a:pPr/>
            <a:r>
              <a:t>Expansion</a:t>
            </a:r>
          </a:p>
          <a:p>
            <a:pPr/>
            <a:r>
              <a:t>Custom Markers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wrap="square"/>
          <a:lstStyle/>
          <a:p/>
          <a:p>
            <a:pPr/>
            <a:r>
              <a:t>layout: center</a:t>
            </a:r>
          </a:p>
          <a:p>
            <a:pPr/>
            <a:r>
              <a:t>class: text-center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a:t>
            </a:r>
          </a:p>
        </p:txBody>
      </p:sp>
      <p:sp>
        <p:nvSpPr>
          <p:cNvPr id="3" name="Content Placeholder 2"/>
          <p:cNvSpPr>
            <a:spLocks noGrp="1"/>
          </p:cNvSpPr>
          <p:nvPr>
            <p:ph idx="1"/>
          </p:nvPr>
        </p:nvSpPr>
        <p:spPr/>
        <p:txBody>
          <a:bodyPr wrap="square"/>
          <a:lstStyle/>
          <a:p/>
          <a:p>
            <a:pPr>
              <a:defRPr b="1" sz="2400"/>
            </a:pPr>
            <a:r>
              <a:t>De Novo Binder Generation Research Thread</a:t>
            </a:r>
          </a:p>
          <a:p>
            <a:pPr/>
            <a:r>
              <a:t>Repository: PhD-Research / Demonstrations / De_Novo_Binder_Generation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